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1"/>
  </p:notesMasterIdLst>
  <p:handoutMasterIdLst>
    <p:handoutMasterId r:id="rId22"/>
  </p:handoutMasterIdLst>
  <p:sldIdLst>
    <p:sldId id="259" r:id="rId2"/>
    <p:sldId id="260" r:id="rId3"/>
    <p:sldId id="261" r:id="rId4"/>
    <p:sldId id="262" r:id="rId5"/>
    <p:sldId id="266" r:id="rId6"/>
    <p:sldId id="265" r:id="rId7"/>
    <p:sldId id="263" r:id="rId8"/>
    <p:sldId id="264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9144000" cy="6858000" type="screen4x3"/>
  <p:notesSz cx="7315200" cy="96012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 Unicode MS" pitchFamily="34" charset="-128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6600"/>
    <a:srgbClr val="000000"/>
    <a:srgbClr val="008C4F"/>
    <a:srgbClr val="777777"/>
    <a:srgbClr val="007F4B"/>
    <a:srgbClr val="2E9028"/>
    <a:srgbClr val="4D4D4D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94444" autoAdjust="0"/>
  </p:normalViewPr>
  <p:slideViewPr>
    <p:cSldViewPr>
      <p:cViewPr varScale="1">
        <p:scale>
          <a:sx n="69" d="100"/>
          <a:sy n="69" d="100"/>
        </p:scale>
        <p:origin x="150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6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826" y="84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/>
              <a:t>Histogram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baseline="0">
              <a:solidFill>
                <a:schemeClr val="tx1"/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Frequency</c:v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Sheet1!$F$3:$F$17</c:f>
              <c:strCache>
                <c:ptCount val="15"/>
                <c:pt idx="0">
                  <c:v>0.25 </c:v>
                </c:pt>
                <c:pt idx="1">
                  <c:v>0.50 </c:v>
                </c:pt>
                <c:pt idx="2">
                  <c:v>0.75 </c:v>
                </c:pt>
                <c:pt idx="3">
                  <c:v>1.00 </c:v>
                </c:pt>
                <c:pt idx="4">
                  <c:v>1.25 </c:v>
                </c:pt>
                <c:pt idx="5">
                  <c:v>1.50 </c:v>
                </c:pt>
                <c:pt idx="6">
                  <c:v>1.75 </c:v>
                </c:pt>
                <c:pt idx="7">
                  <c:v>2.00 </c:v>
                </c:pt>
                <c:pt idx="8">
                  <c:v>2.25 </c:v>
                </c:pt>
                <c:pt idx="9">
                  <c:v>2.50 </c:v>
                </c:pt>
                <c:pt idx="10">
                  <c:v>2.75 </c:v>
                </c:pt>
                <c:pt idx="11">
                  <c:v>3.00 </c:v>
                </c:pt>
                <c:pt idx="12">
                  <c:v>3.25 </c:v>
                </c:pt>
                <c:pt idx="13">
                  <c:v>3.50 </c:v>
                </c:pt>
                <c:pt idx="14">
                  <c:v>More</c:v>
                </c:pt>
              </c:strCache>
            </c:strRef>
          </c:cat>
          <c:val>
            <c:numRef>
              <c:f>Sheet1!$G$3:$G$17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3</c:v>
                </c:pt>
                <c:pt idx="5">
                  <c:v>15</c:v>
                </c:pt>
                <c:pt idx="6">
                  <c:v>128</c:v>
                </c:pt>
                <c:pt idx="7">
                  <c:v>98</c:v>
                </c:pt>
                <c:pt idx="8">
                  <c:v>50</c:v>
                </c:pt>
                <c:pt idx="9">
                  <c:v>12</c:v>
                </c:pt>
                <c:pt idx="10">
                  <c:v>11</c:v>
                </c:pt>
                <c:pt idx="11">
                  <c:v>2</c:v>
                </c:pt>
                <c:pt idx="12">
                  <c:v>5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E3-4620-92D4-AD6F0042877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4600175"/>
        <c:axId val="14598511"/>
      </c:barChart>
      <c:catAx>
        <c:axId val="14600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Magnitude [Richter Scale]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8511"/>
        <c:crosses val="autoZero"/>
        <c:auto val="1"/>
        <c:lblAlgn val="ctr"/>
        <c:lblOffset val="100"/>
        <c:noMultiLvlLbl val="0"/>
      </c:catAx>
      <c:valAx>
        <c:axId val="14598511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4600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7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de-DE"/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7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871FB045-12D5-4F9E-9CD0-C9D0D6183356}" type="datetime1">
              <a:rPr lang="de-DE" smtClean="0"/>
              <a:t>16.05.2017</a:t>
            </a:fld>
            <a:endParaRPr lang="de-DE"/>
          </a:p>
        </p:txBody>
      </p:sp>
      <p:sp>
        <p:nvSpPr>
          <p:cNvPr id="315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991"/>
            <a:ext cx="3169920" cy="479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de-DE"/>
          </a:p>
        </p:txBody>
      </p:sp>
      <p:sp>
        <p:nvSpPr>
          <p:cNvPr id="315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991"/>
            <a:ext cx="3169920" cy="479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236D1756-0A4F-40B1-9672-2341E69D2312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55643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7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7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6BEA0E4D-3066-4822-BAC8-C256CFEF5F82}" type="datetime1">
              <a:rPr lang="de-DE" smtClean="0"/>
              <a:t>16.05.2017</a:t>
            </a:fld>
            <a:endParaRPr lang="de-D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762"/>
            <a:ext cx="5364480" cy="432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die Formate des Vorlagentextes zu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523"/>
            <a:ext cx="3169920" cy="47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de-D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523"/>
            <a:ext cx="3169920" cy="47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4BECC550-4CE8-4A40-82AC-07B53792E54D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19287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5B1CCD-706A-4BFF-BE7C-F25D3D2F229B}" type="datetime1">
              <a:rPr lang="de-DE" smtClean="0"/>
              <a:t>16.05.2017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521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170294-0A22-4149-9F01-A752433BA0FC}" type="datetime1">
              <a:rPr lang="de-DE" smtClean="0"/>
              <a:t>16.05.2017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385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5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EA0E4D-3066-4822-BAC8-C256CFEF5F82}" type="datetime1">
              <a:rPr lang="de-DE" smtClean="0"/>
              <a:t>16.05.2017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95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ChangeArrowheads="1"/>
          </p:cNvSpPr>
          <p:nvPr/>
        </p:nvSpPr>
        <p:spPr bwMode="auto">
          <a:xfrm>
            <a:off x="8583613" y="0"/>
            <a:ext cx="561975" cy="6858000"/>
          </a:xfrm>
          <a:prstGeom prst="rect">
            <a:avLst/>
          </a:prstGeom>
          <a:solidFill>
            <a:srgbClr val="000000">
              <a:alpha val="1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1063" name="Text Box 7"/>
          <p:cNvSpPr txBox="1">
            <a:spLocks noChangeArrowheads="1"/>
          </p:cNvSpPr>
          <p:nvPr/>
        </p:nvSpPr>
        <p:spPr bwMode="auto">
          <a:xfrm>
            <a:off x="684213" y="1268413"/>
            <a:ext cx="69119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30106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477838" y="1409700"/>
            <a:ext cx="7737475" cy="1155700"/>
          </a:xfrm>
        </p:spPr>
        <p:txBody>
          <a:bodyPr/>
          <a:lstStyle>
            <a:lvl1pPr>
              <a:defRPr sz="35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de-DE" dirty="0"/>
          </a:p>
        </p:txBody>
      </p:sp>
      <p:sp>
        <p:nvSpPr>
          <p:cNvPr id="301065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477838" y="2276475"/>
            <a:ext cx="7737475" cy="2376488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496" y="54035"/>
            <a:ext cx="2952328" cy="1214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95263" indent="-195263">
              <a:buClrTx/>
              <a:buFont typeface="Wingdings" panose="05000000000000000000" pitchFamily="2" charset="2"/>
              <a:buChar char="§"/>
              <a:defRPr/>
            </a:lvl1pPr>
            <a:lvl2pPr marL="581025" indent="-130175">
              <a:buClrTx/>
              <a:buFont typeface="Wingdings" panose="05000000000000000000" pitchFamily="2" charset="2"/>
              <a:buChar char="§"/>
              <a:defRPr/>
            </a:lvl2pPr>
            <a:lvl3pPr marL="890588" indent="-109538">
              <a:buClrTx/>
              <a:buFont typeface="Wingdings" panose="05000000000000000000" pitchFamily="2" charset="2"/>
              <a:buChar char="§"/>
              <a:defRPr/>
            </a:lvl3pPr>
            <a:lvl4pPr marL="1271588" indent="-114300">
              <a:buClrTx/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9425" y="1711325"/>
            <a:ext cx="38846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6438" y="1711325"/>
            <a:ext cx="3886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195263" indent="-195263">
              <a:buClr>
                <a:schemeClr val="tx2"/>
              </a:buClr>
              <a:buFont typeface="Wingdings" panose="05000000000000000000" pitchFamily="2" charset="2"/>
              <a:buChar char="§"/>
              <a:defRPr sz="2400"/>
            </a:lvl1pPr>
            <a:lvl2pPr marL="581025" indent="-130175">
              <a:buClr>
                <a:schemeClr val="tx2"/>
              </a:buClr>
              <a:buFont typeface="Wingdings" panose="05000000000000000000" pitchFamily="2" charset="2"/>
              <a:buChar char="§"/>
              <a:defRPr sz="2000"/>
            </a:lvl2pPr>
            <a:lvl3pPr marL="890588" indent="-109538">
              <a:buClr>
                <a:schemeClr val="tx2"/>
              </a:buClr>
              <a:buFont typeface="Wingdings" panose="05000000000000000000" pitchFamily="2" charset="2"/>
              <a:buChar char="§"/>
              <a:defRPr sz="1800"/>
            </a:lvl3pPr>
            <a:lvl4pPr marL="1271588" indent="-1143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195263" indent="-195263">
              <a:buClrTx/>
              <a:buFont typeface="Wingdings" panose="05000000000000000000" pitchFamily="2" charset="2"/>
              <a:buChar char="§"/>
              <a:defRPr sz="2400"/>
            </a:lvl1pPr>
            <a:lvl2pPr marL="581025" indent="-130175">
              <a:buClrTx/>
              <a:buFont typeface="Wingdings" panose="05000000000000000000" pitchFamily="2" charset="2"/>
              <a:buChar char="§"/>
              <a:defRPr sz="2000"/>
            </a:lvl2pPr>
            <a:lvl3pPr marL="890588" indent="-109538">
              <a:buClrTx/>
              <a:buFont typeface="Wingdings" panose="05000000000000000000" pitchFamily="2" charset="2"/>
              <a:buChar char="§"/>
              <a:defRPr sz="1800"/>
            </a:lvl3pPr>
            <a:lvl4pPr marL="1271588" indent="-114300">
              <a:buClrTx/>
              <a:buFont typeface="Wingdings" panose="05000000000000000000" pitchFamily="2" charset="2"/>
              <a:buChar char="§"/>
              <a:defRPr sz="1600"/>
            </a:lvl4pPr>
            <a:lvl5pPr marL="2057400" indent="-228600">
              <a:buFont typeface="Wingdings" panose="05000000000000000000" pitchFamily="2" charset="2"/>
              <a:buChar char="§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23025" y="1125538"/>
            <a:ext cx="1979613" cy="51117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9425" y="1125538"/>
            <a:ext cx="5791200" cy="51117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01" name="Rectangle 45"/>
          <p:cNvSpPr>
            <a:spLocks noChangeArrowheads="1"/>
          </p:cNvSpPr>
          <p:nvPr/>
        </p:nvSpPr>
        <p:spPr bwMode="auto">
          <a:xfrm>
            <a:off x="8583613" y="0"/>
            <a:ext cx="561975" cy="6858000"/>
          </a:xfrm>
          <a:prstGeom prst="rect">
            <a:avLst/>
          </a:prstGeom>
          <a:solidFill>
            <a:srgbClr val="000000">
              <a:alpha val="1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8698" name="Text Box 42"/>
          <p:cNvSpPr txBox="1">
            <a:spLocks noChangeArrowheads="1"/>
          </p:cNvSpPr>
          <p:nvPr/>
        </p:nvSpPr>
        <p:spPr bwMode="auto">
          <a:xfrm>
            <a:off x="8578850" y="6553200"/>
            <a:ext cx="5746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fld id="{A8C16EB8-5392-4E2B-B539-E993EFA4FB1B}" type="slidenum">
              <a:rPr lang="de-DE">
                <a:solidFill>
                  <a:srgbClr val="808080"/>
                </a:solidFill>
              </a:rPr>
              <a:pPr algn="ctr"/>
              <a:t>‹#›</a:t>
            </a:fld>
            <a:endParaRPr lang="de-DE">
              <a:solidFill>
                <a:srgbClr val="808080"/>
              </a:solidFill>
            </a:endParaRPr>
          </a:p>
        </p:txBody>
      </p:sp>
      <p:sp>
        <p:nvSpPr>
          <p:cNvPr id="198706" name="Text Box 50"/>
          <p:cNvSpPr txBox="1">
            <a:spLocks noChangeArrowheads="1"/>
          </p:cNvSpPr>
          <p:nvPr/>
        </p:nvSpPr>
        <p:spPr bwMode="auto">
          <a:xfrm>
            <a:off x="684213" y="1268413"/>
            <a:ext cx="69119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98707" name="Rectangle 51"/>
          <p:cNvSpPr>
            <a:spLocks noGrp="1" noChangeArrowheads="1"/>
          </p:cNvSpPr>
          <p:nvPr>
            <p:ph type="title"/>
          </p:nvPr>
        </p:nvSpPr>
        <p:spPr bwMode="auto">
          <a:xfrm>
            <a:off x="482600" y="1125538"/>
            <a:ext cx="78994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  <a:br>
              <a:rPr lang="de-DE" smtClean="0"/>
            </a:br>
            <a:endParaRPr lang="de-DE" smtClean="0"/>
          </a:p>
        </p:txBody>
      </p:sp>
      <p:sp>
        <p:nvSpPr>
          <p:cNvPr id="198711" name="Rectangle 5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9425" y="1711325"/>
            <a:ext cx="792321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504" y="47628"/>
            <a:ext cx="2232248" cy="9957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Unicode MS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Unicode MS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Unicode MS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Unicode MS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Unicode MS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Unicode MS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Unicode MS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 Unicode MS" pitchFamily="34" charset="-128"/>
        </a:defRPr>
      </a:lvl9pPr>
    </p:titleStyle>
    <p:bodyStyle>
      <a:lvl1pPr marL="195263" indent="-195263" algn="l" rtl="0" eaLnBrk="1" fontAlgn="base" hangingPunct="1">
        <a:spcBef>
          <a:spcPct val="20000"/>
        </a:spcBef>
        <a:spcAft>
          <a:spcPct val="0"/>
        </a:spcAft>
        <a:buClr>
          <a:srgbClr val="008C4F"/>
        </a:buClr>
        <a:buSzPct val="115000"/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81025" indent="-130175" algn="l" rtl="0" eaLnBrk="1" fontAlgn="base" hangingPunct="1">
        <a:spcBef>
          <a:spcPct val="20000"/>
        </a:spcBef>
        <a:spcAft>
          <a:spcPct val="0"/>
        </a:spcAft>
        <a:buClr>
          <a:srgbClr val="008C4F"/>
        </a:buClr>
        <a:buChar char="-"/>
        <a:defRPr>
          <a:solidFill>
            <a:schemeClr val="tx1"/>
          </a:solidFill>
          <a:latin typeface="+mn-lt"/>
        </a:defRPr>
      </a:lvl2pPr>
      <a:lvl3pPr marL="890588" indent="-109538" algn="l" rtl="0" eaLnBrk="1" fontAlgn="base" hangingPunct="1">
        <a:spcBef>
          <a:spcPct val="20000"/>
        </a:spcBef>
        <a:spcAft>
          <a:spcPct val="0"/>
        </a:spcAft>
        <a:buClr>
          <a:srgbClr val="008C4F"/>
        </a:buClr>
        <a:buChar char="-"/>
        <a:defRPr sz="1400">
          <a:solidFill>
            <a:schemeClr val="tx1"/>
          </a:solidFill>
          <a:latin typeface="+mn-lt"/>
        </a:defRPr>
      </a:lvl3pPr>
      <a:lvl4pPr marL="1271588" indent="-114300" algn="l" rtl="0" eaLnBrk="1" fontAlgn="base" hangingPunct="1">
        <a:spcBef>
          <a:spcPct val="20000"/>
        </a:spcBef>
        <a:spcAft>
          <a:spcPct val="0"/>
        </a:spcAft>
        <a:buClr>
          <a:srgbClr val="008C4F"/>
        </a:buClr>
        <a:buChar char="-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jpg"/><Relationship Id="rId5" Type="http://schemas.openxmlformats.org/officeDocument/2006/relationships/image" Target="../media/image40.png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11560" y="1268760"/>
            <a:ext cx="7772400" cy="532859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Hypocenter Relocation Using </a:t>
            </a:r>
            <a:b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Geiger Method </a:t>
            </a:r>
            <a:b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2400" dirty="0" smtClean="0">
                <a:solidFill>
                  <a:schemeClr val="tx1"/>
                </a:solidFill>
              </a:rPr>
              <a:t>By: 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      Abdullah Alali </a:t>
            </a: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      Rami </a:t>
            </a:r>
            <a:r>
              <a:rPr lang="en-US" sz="2400" dirty="0" err="1" smtClean="0">
                <a:solidFill>
                  <a:schemeClr val="tx1"/>
                </a:solidFill>
              </a:rPr>
              <a:t>Albattat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     Andika Perbawa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  <a:t/>
            </a:r>
            <a:b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  <a:t/>
            </a:r>
            <a:b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  <a:t>Instructor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: Prof. </a:t>
            </a: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  <a:t>Ibrahim </a:t>
            </a:r>
            <a:r>
              <a:rPr lang="en-US" sz="1800" dirty="0" err="1" smtClean="0">
                <a:solidFill>
                  <a:schemeClr val="accent6">
                    <a:lumMod val="50000"/>
                  </a:schemeClr>
                </a:solidFill>
              </a:rPr>
              <a:t>Hoteit</a:t>
            </a: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800" dirty="0" err="1">
                <a:solidFill>
                  <a:schemeClr val="accent6">
                    <a:lumMod val="50000"/>
                  </a:schemeClr>
                </a:solidFill>
              </a:rPr>
              <a:t>ErSE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</a:rPr>
              <a:t>213  Inverse Problem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/>
            </a:r>
            <a:br>
              <a:rPr lang="en-US" sz="1800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2800" dirty="0"/>
              <a:t> </a:t>
            </a:r>
            <a:br>
              <a:rPr lang="en-US" sz="2800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4000" dirty="0" smtClean="0"/>
              <a:t/>
            </a:r>
            <a:br>
              <a:rPr lang="en-US" sz="4000" dirty="0" smtClean="0"/>
            </a:b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67544" y="908720"/>
            <a:ext cx="7899400" cy="574675"/>
          </a:xfrm>
        </p:spPr>
        <p:txBody>
          <a:bodyPr/>
          <a:lstStyle/>
          <a:p>
            <a:pPr algn="ctr"/>
            <a:r>
              <a:rPr lang="en-US" sz="3600" b="1" dirty="0" smtClean="0"/>
              <a:t>Outline</a:t>
            </a:r>
            <a:endParaRPr lang="en-US" sz="3600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13827" y="1711349"/>
            <a:ext cx="7923213" cy="4525963"/>
          </a:xfrm>
        </p:spPr>
        <p:txBody>
          <a:bodyPr>
            <a:normAutofit/>
          </a:bodyPr>
          <a:lstStyle/>
          <a:p>
            <a:pPr marL="514350" indent="-514350"/>
            <a:r>
              <a:rPr lang="en-US" sz="2800" dirty="0" smtClean="0"/>
              <a:t>The Problem </a:t>
            </a:r>
          </a:p>
          <a:p>
            <a:pPr marL="514350" indent="-514350"/>
            <a:r>
              <a:rPr lang="en-US" sz="2800" dirty="0" smtClean="0"/>
              <a:t>The Physics </a:t>
            </a:r>
          </a:p>
          <a:p>
            <a:pPr marL="514350" indent="-514350"/>
            <a:r>
              <a:rPr lang="en-US" sz="2800" dirty="0" smtClean="0"/>
              <a:t>System Formulation</a:t>
            </a:r>
          </a:p>
          <a:p>
            <a:pPr marL="514350" indent="-514350"/>
            <a:r>
              <a:rPr lang="en-US" sz="2800" dirty="0" smtClean="0"/>
              <a:t>Algorithm</a:t>
            </a:r>
            <a:endParaRPr lang="en-US" sz="2800" dirty="0"/>
          </a:p>
          <a:p>
            <a:pPr marL="514350" indent="-514350"/>
            <a:r>
              <a:rPr lang="en-US" sz="2800" dirty="0" smtClean="0"/>
              <a:t>Forward and Inverse Modeling</a:t>
            </a:r>
          </a:p>
          <a:p>
            <a:pPr marL="514350" indent="-514350"/>
            <a:r>
              <a:rPr lang="en-US" sz="2800" dirty="0" smtClean="0"/>
              <a:t>Blind Test </a:t>
            </a:r>
          </a:p>
          <a:p>
            <a:pPr marL="514350" indent="-514350"/>
            <a:r>
              <a:rPr lang="en-US" sz="2800" dirty="0" smtClean="0"/>
              <a:t>Application in Real Data</a:t>
            </a:r>
          </a:p>
          <a:p>
            <a:pPr marL="514350" indent="-514350"/>
            <a:r>
              <a:rPr lang="en-US" sz="2800" dirty="0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402602"/>
            <a:ext cx="3613099" cy="282659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2420887"/>
            <a:ext cx="3674032" cy="2448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7983" y="5408368"/>
            <a:ext cx="768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Locating the origin of the earthquake is important for </a:t>
            </a:r>
            <a:r>
              <a:rPr lang="en-US" sz="1800" dirty="0"/>
              <a:t>h</a:t>
            </a:r>
            <a:r>
              <a:rPr lang="en-US" sz="1800" dirty="0" smtClean="0"/>
              <a:t>azard assessment, prevent higher losses and for determining the weak zones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4008" y="4581128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effectLst>
                  <a:glow rad="241300">
                    <a:schemeClr val="bg1"/>
                  </a:glow>
                </a:effectLst>
              </a:rPr>
              <a:t>Hypocenter</a:t>
            </a:r>
            <a:endParaRPr lang="en-US" dirty="0">
              <a:effectLst>
                <a:glow rad="241300">
                  <a:schemeClr val="bg1"/>
                </a:glo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97348" y="3099440"/>
            <a:ext cx="12241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effectLst>
                  <a:glow rad="241300">
                    <a:schemeClr val="bg1"/>
                  </a:glow>
                </a:effectLst>
              </a:rPr>
              <a:t>Epicenter</a:t>
            </a:r>
            <a:endParaRPr lang="en-US" dirty="0">
              <a:effectLst>
                <a:glow rad="241300">
                  <a:schemeClr val="bg1"/>
                </a:glo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2240" y="2564904"/>
            <a:ext cx="143554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effectLst>
                  <a:glow rad="241300">
                    <a:schemeClr val="bg1"/>
                  </a:glow>
                </a:effectLst>
              </a:rPr>
              <a:t>Seismic Station</a:t>
            </a:r>
            <a:endParaRPr lang="en-US" dirty="0">
              <a:effectLst>
                <a:glow rad="2413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612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543700"/>
            <a:ext cx="3712786" cy="28287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Physics Of the Problem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9425" y="1711325"/>
                <a:ext cx="7923213" cy="2509763"/>
              </a:xfrm>
            </p:spPr>
            <p:txBody>
              <a:bodyPr/>
              <a:lstStyle/>
              <a:p>
                <a:r>
                  <a:rPr lang="en-US" dirty="0" smtClean="0"/>
                  <a:t>Hypocenter (X,Y,Z) 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Data (</a:t>
                </a:r>
                <a:r>
                  <a:rPr lang="en-US" dirty="0" err="1" smtClean="0"/>
                  <a:t>t</a:t>
                </a:r>
                <a:r>
                  <a:rPr lang="en-US" baseline="-25000" dirty="0" err="1" smtClean="0"/>
                  <a:t>obs</a:t>
                </a:r>
                <a:r>
                  <a:rPr lang="en-US" dirty="0" smtClean="0"/>
                  <a:t>) </a:t>
                </a:r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𝐷𝑖𝑠𝑡𝑎𝑛𝑐𝑒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𝑉𝑒𝑙𝑜𝑐𝑖𝑡𝑦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𝑥𝑜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𝑦𝑜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𝑧𝑜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sz="20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425" y="1711325"/>
                <a:ext cx="7923213" cy="2509763"/>
              </a:xfrm>
              <a:blipFill>
                <a:blip r:embed="rId3"/>
                <a:stretch>
                  <a:fillRect l="-770" t="-1946" b="-7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4437112"/>
                <a:ext cx="7404943" cy="1415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endParaRPr lang="en-US" sz="1800" dirty="0" smtClean="0"/>
              </a:p>
              <a:p>
                <a:pPr marL="0" indent="0">
                  <a:buNone/>
                </a:pPr>
                <a:endParaRPr lang="en-US" sz="1800" dirty="0" smtClean="0"/>
              </a:p>
              <a:p>
                <a:pPr marL="0" indent="0">
                  <a:buNone/>
                </a:pPr>
                <a:r>
                  <a:rPr lang="en-US" sz="1800" dirty="0" smtClean="0"/>
                  <a:t>We </a:t>
                </a:r>
                <a:r>
                  <a:rPr lang="en-US" sz="1800" dirty="0"/>
                  <a:t>want to find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𝑥𝑜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𝑦𝑜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𝑧𝑜</m:t>
                    </m:r>
                    <m:r>
                      <a:rPr lang="en-US" sz="1800" b="0" i="1" dirty="0" smtClean="0">
                        <a:latin typeface="Cambria Math" charset="0"/>
                      </a:rPr>
                      <m:t> 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437112"/>
                <a:ext cx="7404943" cy="1415772"/>
              </a:xfrm>
              <a:prstGeom prst="rect">
                <a:avLst/>
              </a:prstGeom>
              <a:blipFill>
                <a:blip r:embed="rId4"/>
                <a:stretch>
                  <a:fillRect l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204864"/>
            <a:ext cx="3551145" cy="355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0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Physics Of the Problem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772816"/>
            <a:ext cx="3593976" cy="2024775"/>
          </a:xfrm>
        </p:spPr>
      </p:pic>
      <p:sp>
        <p:nvSpPr>
          <p:cNvPr id="5" name="TextBox 4"/>
          <p:cNvSpPr txBox="1"/>
          <p:nvPr/>
        </p:nvSpPr>
        <p:spPr>
          <a:xfrm>
            <a:off x="611560" y="1916832"/>
            <a:ext cx="3816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Q: Car arrived to the city driving for half an hour with the speed of 100 km/h, where did it come from  ? </a:t>
            </a:r>
          </a:p>
          <a:p>
            <a:endParaRPr lang="en-US" sz="2000" dirty="0"/>
          </a:p>
          <a:p>
            <a:r>
              <a:rPr lang="en-US" sz="2000" dirty="0" smtClean="0"/>
              <a:t>A: 50 km  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4509120"/>
            <a:ext cx="38164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Q: Car arrived to the city driving at 1:30 am with the speed of 100 km/h, where and when did it come from  ? </a:t>
            </a:r>
          </a:p>
          <a:p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887271"/>
            <a:ext cx="2413248" cy="2413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576" y="602128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41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3404997"/>
            <a:ext cx="4216842" cy="3212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Physics Of the Problem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9425" y="1711325"/>
                <a:ext cx="7923213" cy="4670003"/>
              </a:xfrm>
            </p:spPr>
            <p:txBody>
              <a:bodyPr/>
              <a:lstStyle/>
              <a:p>
                <a:r>
                  <a:rPr lang="en-US" dirty="0" smtClean="0"/>
                  <a:t>Hypocenter (X,Y,Z,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| to</a:t>
                </a:r>
                <a:r>
                  <a:rPr lang="en-US" dirty="0" smtClean="0"/>
                  <a:t>) </a:t>
                </a:r>
              </a:p>
              <a:p>
                <a:r>
                  <a:rPr lang="en-US" dirty="0" smtClean="0"/>
                  <a:t>Data (</a:t>
                </a:r>
                <a:r>
                  <a:rPr lang="en-US" dirty="0" err="1" smtClean="0"/>
                  <a:t>t</a:t>
                </a:r>
                <a:r>
                  <a:rPr lang="en-US" baseline="-25000" dirty="0" err="1" smtClean="0"/>
                  <a:t>obs</a:t>
                </a:r>
                <a:r>
                  <a:rPr lang="en-US" dirty="0" smtClean="0"/>
                  <a:t>) </a:t>
                </a:r>
              </a:p>
              <a:p>
                <a:pPr marL="0" indent="0">
                  <a:buNone/>
                </a:pPr>
                <a:r>
                  <a:rPr lang="en-US" dirty="0" smtClean="0"/>
                  <a:t>Arrival </a:t>
                </a:r>
                <a:r>
                  <a:rPr lang="en-US" dirty="0"/>
                  <a:t>time = travel time + </a:t>
                </a:r>
                <a:r>
                  <a:rPr lang="en-US" dirty="0" smtClean="0"/>
                  <a:t>origin </a:t>
                </a:r>
                <a:r>
                  <a:rPr lang="en-US" dirty="0"/>
                  <a:t>time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𝐷𝑖𝑠𝑡𝑎𝑛𝑐𝑒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𝑉𝑒𝑙𝑜𝑐𝑖𝑡𝑦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𝑥𝑜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𝑦𝑜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𝑧𝑜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to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want to find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𝑧𝑜</m:t>
                    </m:r>
                    <m:r>
                      <a:rPr lang="en-US" i="1" dirty="0">
                        <a:latin typeface="Cambria Math" charset="0"/>
                      </a:rPr>
                      <m:t>,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charset="0"/>
                      </a:rPr>
                      <m:t>𝑡𝑜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Non-linear Problem </a:t>
                </a: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425" y="1711325"/>
                <a:ext cx="7923213" cy="4670003"/>
              </a:xfrm>
              <a:blipFill>
                <a:blip r:embed="rId3"/>
                <a:stretch>
                  <a:fillRect l="-770" t="-1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076056" y="5475019"/>
            <a:ext cx="3984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glow rad="368300">
                    <a:schemeClr val="bg1"/>
                  </a:glow>
                </a:effectLst>
              </a:rPr>
              <a:t>to</a:t>
            </a:r>
            <a:endParaRPr lang="en-US" dirty="0">
              <a:effectLst>
                <a:glow rad="368300">
                  <a:schemeClr val="bg1"/>
                </a:glo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51403" y="4528571"/>
            <a:ext cx="6243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  <a:effectLst>
                  <a:glow rad="368300">
                    <a:schemeClr val="bg1"/>
                  </a:glow>
                </a:effectLst>
              </a:rPr>
              <a:t>tobs</a:t>
            </a:r>
            <a:endParaRPr lang="en-US" dirty="0">
              <a:effectLst>
                <a:glow rad="368300">
                  <a:schemeClr val="bg1"/>
                </a:glo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35558" y="5782796"/>
            <a:ext cx="7066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  <a:effectLst>
                  <a:glow rad="368300">
                    <a:schemeClr val="bg1"/>
                  </a:glow>
                </a:effectLst>
              </a:rPr>
              <a:t>tpred</a:t>
            </a:r>
            <a:endParaRPr lang="en-US" dirty="0">
              <a:effectLst>
                <a:glow rad="3683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485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Linearizing and Forming the system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9425" y="1711325"/>
                <a:ext cx="8125023" cy="4525963"/>
              </a:xfrm>
            </p:spPr>
            <p:txBody>
              <a:bodyPr/>
              <a:lstStyle/>
              <a:p>
                <a:r>
                  <a:rPr lang="en-US" sz="2000" dirty="0" err="1" smtClean="0"/>
                  <a:t>Gieger</a:t>
                </a:r>
                <a:r>
                  <a:rPr lang="en-US" sz="2000" dirty="0" smtClean="0"/>
                  <a:t> (1912) suggest </a:t>
                </a:r>
                <a:r>
                  <a:rPr lang="en-US" sz="2000" dirty="0"/>
                  <a:t>that the system for such problem is as follow </a:t>
                </a:r>
              </a:p>
              <a:p>
                <a:endParaRPr lang="en-US" sz="2000" dirty="0" smtClean="0"/>
              </a:p>
              <a:p>
                <a:r>
                  <a:rPr lang="en-US" sz="2000" dirty="0" smtClean="0"/>
                  <a:t>Start from an initial guess (x0, y0, z0, t0) </a:t>
                </a:r>
              </a:p>
              <a:p>
                <a:endParaRPr lang="en-US" sz="2000" dirty="0" smtClean="0"/>
              </a:p>
              <a:p>
                <a:r>
                  <a:rPr lang="en-US" sz="2000" dirty="0" smtClean="0"/>
                  <a:t>Residual = </a:t>
                </a:r>
                <a:r>
                  <a:rPr lang="en-US" sz="2000" dirty="0" err="1" smtClean="0"/>
                  <a:t>t</a:t>
                </a:r>
                <a:r>
                  <a:rPr lang="en-US" sz="1400" dirty="0" err="1" smtClean="0"/>
                  <a:t>observed</a:t>
                </a:r>
                <a:r>
                  <a:rPr lang="en-US" sz="2000" dirty="0" smtClean="0"/>
                  <a:t> – (</a:t>
                </a:r>
                <a:r>
                  <a:rPr lang="en-US" sz="2000" dirty="0" err="1" smtClean="0"/>
                  <a:t>t</a:t>
                </a:r>
                <a:r>
                  <a:rPr lang="en-US" sz="2000" baseline="-25000" dirty="0" err="1" smtClean="0"/>
                  <a:t>predicted</a:t>
                </a:r>
                <a:r>
                  <a:rPr lang="en-US" sz="2000" baseline="-25000" dirty="0" smtClean="0"/>
                  <a:t> </a:t>
                </a:r>
                <a:r>
                  <a:rPr lang="en-US" sz="2000" dirty="0" smtClean="0"/>
                  <a:t>+ t</a:t>
                </a:r>
                <a:r>
                  <a:rPr lang="en-US" sz="2000" baseline="-25000" dirty="0" smtClean="0"/>
                  <a:t>o</a:t>
                </a:r>
                <a:r>
                  <a:rPr lang="en-US" sz="2000" dirty="0" smtClean="0"/>
                  <a:t>)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	J(m) = d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smtClean="0"/>
                  <a:t>Where : J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 1</m:t>
                            </m:r>
                          </m:e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  1</m:t>
                            </m:r>
                          </m:e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   1</m:t>
                            </m:r>
                          </m:e>
                        </m:eqAr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2000" dirty="0" smtClean="0"/>
                  <a:t>; m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 smtClean="0"/>
                  <a:t> ;   d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𝑅𝑛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425" y="1711325"/>
                <a:ext cx="8125023" cy="4525963"/>
              </a:xfrm>
              <a:blipFill>
                <a:blip r:embed="rId2"/>
                <a:stretch>
                  <a:fillRect l="-901" t="-1348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172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	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 bwMode="auto">
          <a:xfrm>
            <a:off x="2411760" y="2136033"/>
            <a:ext cx="690112" cy="14176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313222" y="1772816"/>
            <a:ext cx="1641128" cy="579241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/>
              <a:t>Initial </a:t>
            </a:r>
            <a:r>
              <a:rPr lang="en-US" dirty="0" smtClean="0"/>
              <a:t>Model</a:t>
            </a:r>
          </a:p>
          <a:p>
            <a:pPr algn="ctr"/>
            <a:r>
              <a:rPr lang="en-US" dirty="0" err="1" smtClean="0"/>
              <a:t>xo,yo,zo,to</a:t>
            </a:r>
            <a:endParaRPr lang="en-US" dirty="0" smtClean="0"/>
          </a:p>
          <a:p>
            <a:pPr algn="ctr"/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3907516" y="1969076"/>
            <a:ext cx="1152128" cy="405916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/>
              <a:t>t </a:t>
            </a:r>
            <a:r>
              <a:rPr lang="en-US" dirty="0" err="1" smtClean="0"/>
              <a:t>pred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50818" y="201814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38962" y="1874423"/>
            <a:ext cx="1665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Forward modeling 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 bwMode="auto">
          <a:xfrm>
            <a:off x="6228184" y="1969076"/>
            <a:ext cx="1944216" cy="382981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R= </a:t>
            </a:r>
            <a:r>
              <a:rPr lang="en-US" dirty="0" err="1" smtClean="0"/>
              <a:t>tobs</a:t>
            </a:r>
            <a:r>
              <a:rPr lang="en-US" dirty="0" smtClean="0"/>
              <a:t> – (t </a:t>
            </a:r>
            <a:r>
              <a:rPr lang="en-US" dirty="0" err="1" smtClean="0"/>
              <a:t>pred</a:t>
            </a:r>
            <a:r>
              <a:rPr lang="en-US" dirty="0" smtClean="0"/>
              <a:t> + to)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 bwMode="auto">
          <a:xfrm>
            <a:off x="5250040" y="2138285"/>
            <a:ext cx="690112" cy="14176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17" name="Right Arrow 16"/>
          <p:cNvSpPr/>
          <p:nvPr/>
        </p:nvSpPr>
        <p:spPr bwMode="auto">
          <a:xfrm rot="5400000">
            <a:off x="6906613" y="2797944"/>
            <a:ext cx="690112" cy="14176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18" name="Diamond 17"/>
          <p:cNvSpPr/>
          <p:nvPr/>
        </p:nvSpPr>
        <p:spPr bwMode="auto">
          <a:xfrm>
            <a:off x="6696236" y="3647123"/>
            <a:ext cx="1008112" cy="1008112"/>
          </a:xfrm>
          <a:prstGeom prst="diamond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0312" y="4019274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Small ?</a:t>
            </a:r>
          </a:p>
        </p:txBody>
      </p:sp>
      <p:sp>
        <p:nvSpPr>
          <p:cNvPr id="20" name="Right Arrow 19"/>
          <p:cNvSpPr/>
          <p:nvPr/>
        </p:nvSpPr>
        <p:spPr bwMode="auto">
          <a:xfrm rot="5400000">
            <a:off x="6934700" y="5003910"/>
            <a:ext cx="557214" cy="144017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10800000">
            <a:off x="5508105" y="4080249"/>
            <a:ext cx="690112" cy="14176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3907516" y="3983116"/>
            <a:ext cx="1216134" cy="381711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Solve </a:t>
            </a:r>
            <a:r>
              <a:rPr lang="en-US" dirty="0" err="1" smtClean="0"/>
              <a:t>Jm</a:t>
            </a:r>
            <a:r>
              <a:rPr lang="en-US" dirty="0" smtClean="0"/>
              <a:t>=d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604550" y="378292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No</a:t>
            </a:r>
            <a:endParaRPr lang="en-US" sz="1800" dirty="0"/>
          </a:p>
        </p:txBody>
      </p:sp>
      <p:sp>
        <p:nvSpPr>
          <p:cNvPr id="25" name="TextBox 24"/>
          <p:cNvSpPr txBox="1"/>
          <p:nvPr/>
        </p:nvSpPr>
        <p:spPr>
          <a:xfrm>
            <a:off x="6566363" y="487954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Yes</a:t>
            </a:r>
            <a:endParaRPr lang="en-US" sz="1800" dirty="0"/>
          </a:p>
        </p:txBody>
      </p:sp>
      <p:sp>
        <p:nvSpPr>
          <p:cNvPr id="26" name="Right Arrow 25"/>
          <p:cNvSpPr/>
          <p:nvPr/>
        </p:nvSpPr>
        <p:spPr bwMode="auto">
          <a:xfrm rot="10800000">
            <a:off x="2417111" y="4093861"/>
            <a:ext cx="690112" cy="14176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95715" y="3772472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DLSQR</a:t>
            </a:r>
            <a:endParaRPr lang="en-US" dirty="0"/>
          </a:p>
        </p:txBody>
      </p:sp>
      <p:sp>
        <p:nvSpPr>
          <p:cNvPr id="28" name="Rounded Rectangle 27"/>
          <p:cNvSpPr/>
          <p:nvPr/>
        </p:nvSpPr>
        <p:spPr bwMode="auto">
          <a:xfrm>
            <a:off x="798122" y="3615651"/>
            <a:ext cx="1152128" cy="1112669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x1=x0+</a:t>
            </a:r>
            <a:r>
              <a:rPr lang="el-GR" dirty="0"/>
              <a:t>Δ</a:t>
            </a:r>
            <a:r>
              <a:rPr lang="en-US" dirty="0"/>
              <a:t>x</a:t>
            </a:r>
          </a:p>
          <a:p>
            <a:r>
              <a:rPr lang="en-US" dirty="0"/>
              <a:t>y1=y0+</a:t>
            </a:r>
            <a:r>
              <a:rPr lang="el-GR" dirty="0"/>
              <a:t>Δ</a:t>
            </a:r>
            <a:r>
              <a:rPr lang="en-US" dirty="0"/>
              <a:t>y</a:t>
            </a:r>
          </a:p>
          <a:p>
            <a:r>
              <a:rPr lang="en-US" dirty="0"/>
              <a:t>z1=z0+</a:t>
            </a:r>
            <a:r>
              <a:rPr lang="el-GR" dirty="0"/>
              <a:t>Δ</a:t>
            </a:r>
            <a:r>
              <a:rPr lang="en-US" dirty="0"/>
              <a:t>z</a:t>
            </a:r>
          </a:p>
          <a:p>
            <a:r>
              <a:rPr lang="en-US" dirty="0"/>
              <a:t>t1=t0+</a:t>
            </a:r>
            <a:r>
              <a:rPr lang="el-GR" dirty="0"/>
              <a:t>Δ</a:t>
            </a:r>
            <a:r>
              <a:rPr lang="en-US" dirty="0"/>
              <a:t>t</a:t>
            </a:r>
          </a:p>
          <a:p>
            <a:endParaRPr lang="en-US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30" name="Right Arrow 29"/>
          <p:cNvSpPr/>
          <p:nvPr/>
        </p:nvSpPr>
        <p:spPr bwMode="auto">
          <a:xfrm rot="16200000">
            <a:off x="1029130" y="2770247"/>
            <a:ext cx="690112" cy="14176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94649" y="2712097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Update</a:t>
            </a:r>
            <a:endParaRPr lang="en-US" sz="1600" dirty="0"/>
          </a:p>
        </p:txBody>
      </p:sp>
      <p:sp>
        <p:nvSpPr>
          <p:cNvPr id="32" name="Rounded Rectangle 31"/>
          <p:cNvSpPr/>
          <p:nvPr/>
        </p:nvSpPr>
        <p:spPr bwMode="auto">
          <a:xfrm>
            <a:off x="5940152" y="5617652"/>
            <a:ext cx="2546308" cy="610959"/>
          </a:xfrm>
          <a:prstGeom prst="round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 smtClean="0"/>
              <a:t>Final Hypocenter</a:t>
            </a:r>
            <a:endParaRPr lang="en-US" dirty="0"/>
          </a:p>
          <a:p>
            <a:pPr algn="ctr"/>
            <a:r>
              <a:rPr lang="en-US" dirty="0" err="1"/>
              <a:t>X</a:t>
            </a:r>
            <a:r>
              <a:rPr lang="en-US" baseline="-25000" dirty="0" err="1"/>
              <a:t>final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final</a:t>
            </a:r>
            <a:r>
              <a:rPr lang="en-US" dirty="0"/>
              <a:t>, </a:t>
            </a:r>
            <a:r>
              <a:rPr lang="en-US" dirty="0" err="1"/>
              <a:t>Z</a:t>
            </a:r>
            <a:r>
              <a:rPr lang="en-US" baseline="-25000" dirty="0" err="1"/>
              <a:t>final</a:t>
            </a:r>
            <a:r>
              <a:rPr lang="en-US" dirty="0"/>
              <a:t>, </a:t>
            </a:r>
            <a:r>
              <a:rPr lang="en-US" dirty="0" err="1"/>
              <a:t>to</a:t>
            </a:r>
            <a:r>
              <a:rPr lang="en-US" baseline="-25000" dirty="0" err="1"/>
              <a:t>final</a:t>
            </a:r>
            <a:endParaRPr lang="en-US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3" name="Rounded Rectangle 2"/>
          <p:cNvSpPr/>
          <p:nvPr/>
        </p:nvSpPr>
        <p:spPr bwMode="auto">
          <a:xfrm>
            <a:off x="2756816" y="1196752"/>
            <a:ext cx="1167112" cy="503461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655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7899400" cy="574675"/>
          </a:xfrm>
        </p:spPr>
        <p:txBody>
          <a:bodyPr/>
          <a:lstStyle/>
          <a:p>
            <a:pPr algn="ctr"/>
            <a:r>
              <a:rPr lang="en-US" dirty="0" smtClean="0"/>
              <a:t>	Forward Model (Synthetic)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052736"/>
            <a:ext cx="7923213" cy="452596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Hypocenter location is known.</a:t>
            </a:r>
          </a:p>
          <a:p>
            <a:r>
              <a:rPr lang="en-US" dirty="0" smtClean="0"/>
              <a:t>Calculating 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760628"/>
              </p:ext>
            </p:extLst>
          </p:nvPr>
        </p:nvGraphicFramePr>
        <p:xfrm>
          <a:off x="1979712" y="1192345"/>
          <a:ext cx="2135510" cy="526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3" imgW="927000" imgH="228600" progId="Equation.DSMT4">
                  <p:embed/>
                </p:oleObj>
              </mc:Choice>
              <mc:Fallback>
                <p:oleObj name="Equation" r:id="rId3" imgW="927000" imgH="2286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1192345"/>
                        <a:ext cx="2135510" cy="526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91680" y="2060848"/>
                <a:ext cx="864096" cy="335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2060848"/>
                <a:ext cx="864096" cy="33534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25509"/>
            <a:ext cx="4644008" cy="3323598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4328478" y="1215387"/>
          <a:ext cx="4048941" cy="3086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7" imgW="3098520" imgH="2361960" progId="Equation.DSMT4">
                  <p:embed/>
                </p:oleObj>
              </mc:Choice>
              <mc:Fallback>
                <p:oleObj name="Equation" r:id="rId7" imgW="3098520" imgH="236196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8478" y="1215387"/>
                        <a:ext cx="4048941" cy="3086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011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56" y="980728"/>
            <a:ext cx="7899400" cy="574675"/>
          </a:xfrm>
        </p:spPr>
        <p:txBody>
          <a:bodyPr/>
          <a:lstStyle/>
          <a:p>
            <a:pPr algn="ctr"/>
            <a:r>
              <a:rPr lang="en-US" dirty="0" smtClean="0"/>
              <a:t>Results from forward Model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Stations “green”.</a:t>
            </a:r>
          </a:p>
          <a:p>
            <a:r>
              <a:rPr lang="en-US" dirty="0" smtClean="0"/>
              <a:t>Hypocenter “red”.</a:t>
            </a:r>
          </a:p>
          <a:p>
            <a:r>
              <a:rPr lang="en-US" dirty="0" smtClean="0"/>
              <a:t>Velocity is 5 km/s</a:t>
            </a:r>
          </a:p>
          <a:p>
            <a:endParaRPr lang="en-US" dirty="0" smtClean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4" t="2911" r="3678" b="4743"/>
          <a:stretch/>
        </p:blipFill>
        <p:spPr bwMode="auto">
          <a:xfrm>
            <a:off x="2843808" y="1719939"/>
            <a:ext cx="581507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940152" y="5013176"/>
            <a:ext cx="144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Hypocenter</a:t>
            </a:r>
            <a:endParaRPr lang="en-US" sz="1100" dirty="0"/>
          </a:p>
        </p:txBody>
      </p:sp>
      <p:cxnSp>
        <p:nvCxnSpPr>
          <p:cNvPr id="13" name="Straight Arrow Connector 12"/>
          <p:cNvCxnSpPr>
            <a:stCxn id="7" idx="1"/>
          </p:cNvCxnSpPr>
          <p:nvPr/>
        </p:nvCxnSpPr>
        <p:spPr bwMode="auto">
          <a:xfrm flipH="1">
            <a:off x="5436096" y="5143981"/>
            <a:ext cx="504056" cy="130805"/>
          </a:xfrm>
          <a:prstGeom prst="straightConnector1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218720" y="2204864"/>
            <a:ext cx="144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7 Stations</a:t>
            </a:r>
            <a:endParaRPr lang="en-US" sz="1100" dirty="0"/>
          </a:p>
        </p:txBody>
      </p:sp>
      <p:cxnSp>
        <p:nvCxnSpPr>
          <p:cNvPr id="15" name="Straight Arrow Connector 14"/>
          <p:cNvCxnSpPr>
            <a:stCxn id="14" idx="1"/>
          </p:cNvCxnSpPr>
          <p:nvPr/>
        </p:nvCxnSpPr>
        <p:spPr bwMode="auto">
          <a:xfrm flipH="1">
            <a:off x="6804248" y="2335669"/>
            <a:ext cx="414472" cy="301243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>
            <a:off x="5868144" y="2341032"/>
            <a:ext cx="1335085" cy="1089862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14" idx="1"/>
          </p:cNvCxnSpPr>
          <p:nvPr/>
        </p:nvCxnSpPr>
        <p:spPr bwMode="auto">
          <a:xfrm flipH="1">
            <a:off x="6732240" y="2335669"/>
            <a:ext cx="486480" cy="1069373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H="1">
            <a:off x="5868144" y="2341032"/>
            <a:ext cx="1335085" cy="1329716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 flipH="1">
            <a:off x="5342814" y="2323533"/>
            <a:ext cx="1875906" cy="273746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flipH="1">
            <a:off x="5004048" y="2335669"/>
            <a:ext cx="2199181" cy="120017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 flipH="1">
            <a:off x="4355976" y="2341032"/>
            <a:ext cx="2847253" cy="74732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395536" y="3073256"/>
          <a:ext cx="2127736" cy="316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5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15.6710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18.1334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24.1928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24.1902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14.6009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16.7154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19.1818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1396636" y="3093652"/>
                <a:ext cx="1159140" cy="335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</m:sSubSup>
                  </m:oMath>
                </a14:m>
                <a:r>
                  <a:rPr lang="en-US" dirty="0" smtClean="0"/>
                  <a:t>, second</a:t>
                </a:r>
                <a:endParaRPr lang="en-US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36" y="3093652"/>
                <a:ext cx="1159140" cy="335348"/>
              </a:xfrm>
              <a:prstGeom prst="rect">
                <a:avLst/>
              </a:prstGeom>
              <a:blipFill rotWithShape="0">
                <a:blip r:embed="rId3"/>
                <a:stretch>
                  <a:fillRect r="-526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81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615" y="476672"/>
            <a:ext cx="7899400" cy="574675"/>
          </a:xfrm>
        </p:spPr>
        <p:txBody>
          <a:bodyPr/>
          <a:lstStyle/>
          <a:p>
            <a:pPr algn="ctr"/>
            <a:r>
              <a:rPr lang="en-US" dirty="0" smtClean="0"/>
              <a:t>Inverse Model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686" y="1124744"/>
            <a:ext cx="5207274" cy="26834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980728"/>
                <a:ext cx="7923213" cy="4525963"/>
              </a:xfrm>
            </p:spPr>
            <p:txBody>
              <a:bodyPr/>
              <a:lstStyle/>
              <a:p>
                <a:r>
                  <a:rPr lang="en-US" dirty="0" smtClean="0"/>
                  <a:t>Damped least square,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Higher damped factor,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higher iterations</a:t>
                </a:r>
              </a:p>
              <a:p>
                <a:r>
                  <a:rPr lang="en-US" dirty="0" smtClean="0"/>
                  <a:t>Changing initial model</a:t>
                </a:r>
              </a:p>
              <a:p>
                <a:r>
                  <a:rPr lang="en-US" dirty="0" smtClean="0"/>
                  <a:t>Max noise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(0,0.05)</m:t>
                    </m:r>
                  </m:oMath>
                </a14:m>
                <a:r>
                  <a:rPr lang="en-US" dirty="0" smtClean="0"/>
                  <a:t> to</a:t>
                </a:r>
              </a:p>
              <a:p>
                <a:pPr marL="0" indent="0">
                  <a:buNone/>
                </a:pPr>
                <a:r>
                  <a:rPr lang="en-US" dirty="0" smtClean="0"/>
                  <a:t>converge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980728"/>
                <a:ext cx="7923213" cy="4525963"/>
              </a:xfrm>
              <a:blipFill rotWithShape="0">
                <a:blip r:embed="rId3"/>
                <a:stretch>
                  <a:fillRect l="-769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31540"/>
              </p:ext>
            </p:extLst>
          </p:nvPr>
        </p:nvGraphicFramePr>
        <p:xfrm>
          <a:off x="310730" y="3429000"/>
          <a:ext cx="3541190" cy="3014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2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Real 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DLSQR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 km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29.9 km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45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44.9 km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-20 km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-20.4 km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46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9.96 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558" y="4077072"/>
            <a:ext cx="4404079" cy="22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4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404664"/>
            <a:ext cx="7899400" cy="574675"/>
          </a:xfrm>
        </p:spPr>
        <p:txBody>
          <a:bodyPr/>
          <a:lstStyle/>
          <a:p>
            <a:pPr algn="ctr"/>
            <a:r>
              <a:rPr lang="en-US" dirty="0" smtClean="0"/>
              <a:t>Blind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980728"/>
            <a:ext cx="7923213" cy="4525963"/>
          </a:xfrm>
        </p:spPr>
        <p:txBody>
          <a:bodyPr/>
          <a:lstStyle/>
          <a:p>
            <a:r>
              <a:rPr lang="en-US" dirty="0" smtClean="0"/>
              <a:t>Removing one stations each time to see the solution.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806111"/>
              </p:ext>
            </p:extLst>
          </p:nvPr>
        </p:nvGraphicFramePr>
        <p:xfrm>
          <a:off x="1187624" y="1340768"/>
          <a:ext cx="54726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0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9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# stations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x,</a:t>
                      </a:r>
                      <a:r>
                        <a:rPr lang="en-US" sz="1600" baseline="0" dirty="0" smtClean="0"/>
                        <a:t> km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y, km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z, km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t, 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29.9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44.9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-20.4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9.96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29.8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44.8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-20.7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9.91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30.9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45.6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No solution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10.4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29.8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44.8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00B050"/>
                          </a:solidFill>
                        </a:rPr>
                        <a:t>-20.8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9.89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04" y="3581727"/>
            <a:ext cx="4624842" cy="2822173"/>
          </a:xfrm>
          <a:prstGeom prst="rect">
            <a:avLst/>
          </a:prstGeom>
        </p:spPr>
      </p:pic>
      <p:sp>
        <p:nvSpPr>
          <p:cNvPr id="7" name="Left Brace 6"/>
          <p:cNvSpPr/>
          <p:nvPr/>
        </p:nvSpPr>
        <p:spPr bwMode="auto">
          <a:xfrm>
            <a:off x="940653" y="2118550"/>
            <a:ext cx="216024" cy="1028426"/>
          </a:xfrm>
          <a:prstGeom prst="leftBrac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6700" y="2458845"/>
            <a:ext cx="827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DLSQR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3606718"/>
            <a:ext cx="4368563" cy="2873928"/>
          </a:xfrm>
          <a:prstGeom prst="rect">
            <a:avLst/>
          </a:prstGeom>
        </p:spPr>
      </p:pic>
      <p:sp>
        <p:nvSpPr>
          <p:cNvPr id="25" name="Left Brace 24"/>
          <p:cNvSpPr/>
          <p:nvPr/>
        </p:nvSpPr>
        <p:spPr bwMode="auto">
          <a:xfrm>
            <a:off x="955181" y="3215011"/>
            <a:ext cx="232443" cy="358005"/>
          </a:xfrm>
          <a:prstGeom prst="leftBrace">
            <a:avLst>
              <a:gd name="adj1" fmla="val 119017"/>
              <a:gd name="adj2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416" y="3259584"/>
            <a:ext cx="973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WDLSQR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Curved Connector 10"/>
          <p:cNvCxnSpPr/>
          <p:nvPr/>
        </p:nvCxnSpPr>
        <p:spPr bwMode="auto">
          <a:xfrm rot="16200000" flipH="1">
            <a:off x="1487941" y="3078774"/>
            <a:ext cx="612909" cy="514649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Curved Connector 13"/>
          <p:cNvCxnSpPr/>
          <p:nvPr/>
        </p:nvCxnSpPr>
        <p:spPr bwMode="auto">
          <a:xfrm>
            <a:off x="6402907" y="3356992"/>
            <a:ext cx="425383" cy="363009"/>
          </a:xfrm>
          <a:prstGeom prst="curvedConnector2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5170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768" y="404664"/>
            <a:ext cx="5760640" cy="574675"/>
          </a:xfrm>
        </p:spPr>
        <p:txBody>
          <a:bodyPr/>
          <a:lstStyle/>
          <a:p>
            <a:r>
              <a:rPr lang="en-US" dirty="0" smtClean="0"/>
              <a:t>Application in Real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Earthquake Location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63" y="2453088"/>
            <a:ext cx="4916180" cy="3928240"/>
          </a:xfrm>
          <a:prstGeom prst="rect">
            <a:avLst/>
          </a:prstGeom>
        </p:spPr>
      </p:pic>
      <p:pic>
        <p:nvPicPr>
          <p:cNvPr id="1026" name="Picture 2" descr="A building badly damaged by the earthquake in the town of Pidi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486" y="2024896"/>
            <a:ext cx="3748822" cy="234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315143" y="4696831"/>
            <a:ext cx="36585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70" indent="-214370">
              <a:buFont typeface="Arial" panose="020B0604020202020204" pitchFamily="34" charset="0"/>
              <a:buChar char="•"/>
            </a:pPr>
            <a:r>
              <a:rPr lang="en-US" sz="1200" b="1" dirty="0"/>
              <a:t>Timing: 7 December 2016 at </a:t>
            </a:r>
            <a:r>
              <a:rPr lang="en-US" sz="1200" b="1" dirty="0">
                <a:solidFill>
                  <a:schemeClr val="tx1">
                    <a:lumMod val="50000"/>
                  </a:schemeClr>
                </a:solidFill>
              </a:rPr>
              <a:t>05:03 local time </a:t>
            </a:r>
          </a:p>
          <a:p>
            <a:pPr marL="214370" indent="-214370">
              <a:buFont typeface="Arial" panose="020B0604020202020204" pitchFamily="34" charset="0"/>
              <a:buChar char="•"/>
            </a:pPr>
            <a:endParaRPr lang="en-US" sz="12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 marL="214370" indent="-21437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chemeClr val="tx1">
                    <a:lumMod val="50000"/>
                  </a:schemeClr>
                </a:solidFill>
              </a:rPr>
              <a:t>110 </a:t>
            </a:r>
            <a:r>
              <a:rPr lang="en-US" sz="1200" b="1" dirty="0">
                <a:solidFill>
                  <a:schemeClr val="tx1">
                    <a:lumMod val="50000"/>
                  </a:schemeClr>
                </a:solidFill>
              </a:rPr>
              <a:t>km (68 miles) from the provincial capital of Banda Aceh</a:t>
            </a:r>
          </a:p>
          <a:p>
            <a:pPr marL="214370" indent="-214370">
              <a:buFont typeface="Arial" panose="020B0604020202020204" pitchFamily="34" charset="0"/>
              <a:buChar char="•"/>
            </a:pPr>
            <a:endParaRPr lang="en-US" sz="12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 marL="214370" indent="-21437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chemeClr val="tx1">
                    <a:lumMod val="50000"/>
                  </a:schemeClr>
                </a:solidFill>
              </a:rPr>
              <a:t>97 </a:t>
            </a:r>
            <a:r>
              <a:rPr lang="en-US" sz="1200" b="1" dirty="0">
                <a:solidFill>
                  <a:schemeClr val="tx1">
                    <a:lumMod val="50000"/>
                  </a:schemeClr>
                </a:solidFill>
              </a:rPr>
              <a:t>people have been killed</a:t>
            </a:r>
          </a:p>
          <a:p>
            <a:pPr marL="214370" indent="-214370">
              <a:buFont typeface="Arial" panose="020B0604020202020204" pitchFamily="34" charset="0"/>
              <a:buChar char="•"/>
            </a:pPr>
            <a:endParaRPr lang="en-US" sz="12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 marL="214370" indent="-214370"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chemeClr val="tx1">
                    <a:lumMod val="50000"/>
                  </a:schemeClr>
                </a:solidFill>
              </a:rPr>
              <a:t>Hypocenter</a:t>
            </a:r>
            <a:r>
              <a:rPr lang="en-US" sz="1200" b="1" dirty="0">
                <a:solidFill>
                  <a:schemeClr val="tx1">
                    <a:lumMod val="50000"/>
                  </a:schemeClr>
                </a:solidFill>
              </a:rPr>
              <a:t>: offshore at depth of 8km</a:t>
            </a:r>
          </a:p>
        </p:txBody>
      </p:sp>
    </p:spTree>
    <p:extLst>
      <p:ext uri="{BB962C8B-B14F-4D97-AF65-F5344CB8AC3E}">
        <p14:creationId xmlns:p14="http://schemas.microsoft.com/office/powerpoint/2010/main" val="65446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318" y="5553969"/>
            <a:ext cx="3746114" cy="1080680"/>
          </a:xfrm>
        </p:spPr>
        <p:txBody>
          <a:bodyPr>
            <a:normAutofit/>
          </a:bodyPr>
          <a:lstStyle/>
          <a:p>
            <a:r>
              <a:rPr lang="en-US" sz="1500" b="1" dirty="0" smtClean="0"/>
              <a:t>Seismic </a:t>
            </a:r>
            <a:r>
              <a:rPr lang="en-US" sz="1500" b="1" dirty="0"/>
              <a:t>Station: 9 Stations</a:t>
            </a:r>
          </a:p>
          <a:p>
            <a:r>
              <a:rPr lang="en-US" sz="1500" b="1" dirty="0"/>
              <a:t>329 Seismicity events during December 2016 to  January 2017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952304"/>
            <a:ext cx="6948265" cy="4601666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5734118"/>
              </p:ext>
            </p:extLst>
          </p:nvPr>
        </p:nvGraphicFramePr>
        <p:xfrm>
          <a:off x="52054" y="3140968"/>
          <a:ext cx="4087898" cy="3692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154263"/>
            <a:ext cx="2057940" cy="745432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9" name="Oval 8"/>
          <p:cNvSpPr/>
          <p:nvPr/>
        </p:nvSpPr>
        <p:spPr>
          <a:xfrm>
            <a:off x="6948263" y="1106966"/>
            <a:ext cx="171495" cy="17149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483768" y="404664"/>
            <a:ext cx="576064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Arial Unicode MS" pitchFamily="34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Arial Unicode MS" pitchFamily="34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Arial Unicode MS" pitchFamily="34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Arial Unicode MS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Arial Unicode MS" pitchFamily="34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Arial Unicode MS" pitchFamily="34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Arial Unicode MS" pitchFamily="34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Arial Unicode MS" pitchFamily="34" charset="-128"/>
              </a:defRPr>
            </a:lvl9pPr>
          </a:lstStyle>
          <a:p>
            <a:r>
              <a:rPr lang="en-US" kern="0" smtClean="0"/>
              <a:t>Application in Real Data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51064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760" y="338116"/>
            <a:ext cx="5990878" cy="574675"/>
          </a:xfrm>
        </p:spPr>
        <p:txBody>
          <a:bodyPr/>
          <a:lstStyle/>
          <a:p>
            <a:r>
              <a:rPr lang="en-US" dirty="0" smtClean="0"/>
              <a:t>Calculation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135261"/>
            <a:ext cx="7923213" cy="4814019"/>
          </a:xfrm>
        </p:spPr>
        <p:txBody>
          <a:bodyPr/>
          <a:lstStyle/>
          <a:p>
            <a:r>
              <a:rPr lang="en-US" dirty="0" smtClean="0"/>
              <a:t>We have one hypocenter data with </a:t>
            </a:r>
            <a:r>
              <a:rPr lang="en-US" dirty="0"/>
              <a:t>d</a:t>
            </a:r>
            <a:r>
              <a:rPr lang="en-US" dirty="0" smtClean="0"/>
              <a:t>etails:</a:t>
            </a:r>
          </a:p>
          <a:p>
            <a:pPr marL="34299" indent="0">
              <a:buNone/>
            </a:pPr>
            <a:endParaRPr lang="en-US" dirty="0" smtClean="0"/>
          </a:p>
          <a:p>
            <a:pPr marL="34299" indent="0">
              <a:buNone/>
            </a:pPr>
            <a:endParaRPr lang="en-US" dirty="0"/>
          </a:p>
          <a:p>
            <a:pPr marL="34299" indent="0">
              <a:buNone/>
            </a:pPr>
            <a:endParaRPr lang="en-US" dirty="0" smtClean="0"/>
          </a:p>
          <a:p>
            <a:pPr marL="320049" indent="-285750"/>
            <a:endParaRPr lang="en-US" dirty="0" smtClean="0"/>
          </a:p>
          <a:p>
            <a:pPr marL="320049" indent="-285750"/>
            <a:endParaRPr lang="en-US" dirty="0"/>
          </a:p>
          <a:p>
            <a:pPr marL="320049" indent="-285750"/>
            <a:endParaRPr lang="en-US" dirty="0" smtClean="0"/>
          </a:p>
          <a:p>
            <a:pPr marL="320049" indent="-285750"/>
            <a:endParaRPr lang="en-US" dirty="0"/>
          </a:p>
          <a:p>
            <a:pPr marL="34299" indent="0">
              <a:buNone/>
            </a:pPr>
            <a:r>
              <a:rPr lang="en-US" dirty="0" smtClean="0"/>
              <a:t>The time </a:t>
            </a:r>
            <a:r>
              <a:rPr lang="en-US" dirty="0"/>
              <a:t>when the earthquake is about to happen is on: </a:t>
            </a:r>
            <a:r>
              <a:rPr lang="en-US" b="1" dirty="0"/>
              <a:t>11 : 07 : </a:t>
            </a:r>
            <a:r>
              <a:rPr lang="en-US" b="1" dirty="0" smtClean="0"/>
              <a:t>03.2</a:t>
            </a:r>
            <a:endParaRPr lang="en-US" b="1" dirty="0"/>
          </a:p>
          <a:p>
            <a:pPr marL="34299" indent="0">
              <a:buNone/>
            </a:pPr>
            <a:endParaRPr lang="en-US" dirty="0" smtClean="0"/>
          </a:p>
          <a:p>
            <a:pPr marL="320049" indent="-285750"/>
            <a:r>
              <a:rPr lang="en-US" dirty="0" smtClean="0"/>
              <a:t>Assume </a:t>
            </a:r>
            <a:r>
              <a:rPr lang="en-US" dirty="0" err="1" smtClean="0"/>
              <a:t>Vconstant</a:t>
            </a:r>
            <a:r>
              <a:rPr lang="en-US" dirty="0" smtClean="0"/>
              <a:t> = 5 Km/s. </a:t>
            </a: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/>
              <a:t>relative to 11:07:00</a:t>
            </a:r>
          </a:p>
          <a:p>
            <a:pPr marL="320049" indent="-285750"/>
            <a:r>
              <a:rPr lang="en-US" dirty="0" smtClean="0"/>
              <a:t>Our hypocenter estimation is:</a:t>
            </a:r>
          </a:p>
          <a:p>
            <a:pPr marL="320049" indent="-285750"/>
            <a:endParaRPr lang="en-US" dirty="0"/>
          </a:p>
          <a:p>
            <a:pPr marL="320049" indent="-285750"/>
            <a:endParaRPr lang="en-US" dirty="0" smtClean="0"/>
          </a:p>
          <a:p>
            <a:pPr marL="34299" indent="0">
              <a:buNone/>
            </a:pPr>
            <a:endParaRPr lang="en-US" dirty="0" smtClean="0"/>
          </a:p>
          <a:p>
            <a:pPr marL="34299" indent="0">
              <a:buNone/>
            </a:pPr>
            <a:r>
              <a:rPr lang="en-US" dirty="0" smtClean="0"/>
              <a:t>The time when the earthquake is about to happen is on: </a:t>
            </a:r>
            <a:r>
              <a:rPr lang="en-US" b="1" dirty="0" smtClean="0"/>
              <a:t>11 : 07 : 02.88</a:t>
            </a:r>
            <a:endParaRPr lang="en-US" b="1" dirty="0"/>
          </a:p>
          <a:p>
            <a:pPr marL="34299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769819"/>
              </p:ext>
            </p:extLst>
          </p:nvPr>
        </p:nvGraphicFramePr>
        <p:xfrm>
          <a:off x="706487" y="3106656"/>
          <a:ext cx="6096000" cy="55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55941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708270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76321541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Coordinate X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Coordinate Y 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Depth (Km)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207022273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191820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98" marR="68598" marT="34299" marB="34299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579877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98" marR="68598" marT="34299" marB="34299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-16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98" marR="68598" marT="34299" marB="34299" anchor="b"/>
                </a:tc>
                <a:extLst>
                  <a:ext uri="{0D108BD9-81ED-4DB2-BD59-A6C34878D82A}">
                    <a16:rowId xmlns:a16="http://schemas.microsoft.com/office/drawing/2014/main" val="106497839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110413"/>
              </p:ext>
            </p:extLst>
          </p:nvPr>
        </p:nvGraphicFramePr>
        <p:xfrm>
          <a:off x="706487" y="5228798"/>
          <a:ext cx="7703492" cy="834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873">
                  <a:extLst>
                    <a:ext uri="{9D8B030D-6E8A-4147-A177-3AD203B41FA5}">
                      <a16:colId xmlns:a16="http://schemas.microsoft.com/office/drawing/2014/main" val="285594132"/>
                    </a:ext>
                  </a:extLst>
                </a:gridCol>
                <a:gridCol w="1925873">
                  <a:extLst>
                    <a:ext uri="{9D8B030D-6E8A-4147-A177-3AD203B41FA5}">
                      <a16:colId xmlns:a16="http://schemas.microsoft.com/office/drawing/2014/main" val="2570827037"/>
                    </a:ext>
                  </a:extLst>
                </a:gridCol>
                <a:gridCol w="1925873">
                  <a:extLst>
                    <a:ext uri="{9D8B030D-6E8A-4147-A177-3AD203B41FA5}">
                      <a16:colId xmlns:a16="http://schemas.microsoft.com/office/drawing/2014/main" val="3376321541"/>
                    </a:ext>
                  </a:extLst>
                </a:gridCol>
                <a:gridCol w="1925873">
                  <a:extLst>
                    <a:ext uri="{9D8B030D-6E8A-4147-A177-3AD203B41FA5}">
                      <a16:colId xmlns:a16="http://schemas.microsoft.com/office/drawing/2014/main" val="317697942"/>
                    </a:ext>
                  </a:extLst>
                </a:gridCol>
              </a:tblGrid>
              <a:tr h="2782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Coordinate X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Coordinate Y 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Depth (Km)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98" marR="68598" marT="34299" marB="3429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sz="120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(s)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98" marR="68598" marT="34299" marB="34299"/>
                </a:tc>
                <a:extLst>
                  <a:ext uri="{0D108BD9-81ED-4DB2-BD59-A6C34878D82A}">
                    <a16:rowId xmlns:a16="http://schemas.microsoft.com/office/drawing/2014/main" val="2070222732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dirty="0" smtClean="0"/>
                        <a:t>191295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98" marR="68598" marT="34299" marB="34299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dirty="0" smtClean="0"/>
                        <a:t>580138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98" marR="68598" marT="34299" marB="34299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dirty="0" smtClean="0"/>
                        <a:t>-14.77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98" marR="68598" marT="34299" marB="34299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2.88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98" marR="68598" marT="34299" marB="34299" anchor="b"/>
                </a:tc>
                <a:extLst>
                  <a:ext uri="{0D108BD9-81ED-4DB2-BD59-A6C34878D82A}">
                    <a16:rowId xmlns:a16="http://schemas.microsoft.com/office/drawing/2014/main" val="1064978393"/>
                  </a:ext>
                </a:extLst>
              </a:tr>
              <a:tr h="278202"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Δ</a:t>
                      </a:r>
                      <a:r>
                        <a:rPr 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 = 525 m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98" marR="68598" marT="34299" marB="34299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Δ</a:t>
                      </a:r>
                      <a:r>
                        <a:rPr 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 </a:t>
                      </a:r>
                      <a:r>
                        <a:rPr 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= 260 m</a:t>
                      </a:r>
                    </a:p>
                  </a:txBody>
                  <a:tcPr marL="68598" marR="68598" marT="34299" marB="34299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Δ</a:t>
                      </a:r>
                      <a:r>
                        <a:rPr 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 = 1.23 km</a:t>
                      </a:r>
                    </a:p>
                  </a:txBody>
                  <a:tcPr marL="68598" marR="68598" marT="34299" marB="34299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Δ</a:t>
                      </a:r>
                      <a:r>
                        <a:rPr 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 = 0.32</a:t>
                      </a:r>
                      <a:r>
                        <a:rPr lang="en-US" sz="12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second</a:t>
                      </a:r>
                      <a:endParaRPr lang="en-US" sz="1200" b="1" i="0" u="none" strike="noStrike" dirty="0" smtClea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98" marR="68598" marT="34299" marB="34299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52035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591669"/>
              </p:ext>
            </p:extLst>
          </p:nvPr>
        </p:nvGraphicFramePr>
        <p:xfrm>
          <a:off x="706487" y="1542827"/>
          <a:ext cx="6817840" cy="144970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63568">
                  <a:extLst>
                    <a:ext uri="{9D8B030D-6E8A-4147-A177-3AD203B41FA5}">
                      <a16:colId xmlns:a16="http://schemas.microsoft.com/office/drawing/2014/main" val="4084820950"/>
                    </a:ext>
                  </a:extLst>
                </a:gridCol>
                <a:gridCol w="1363568">
                  <a:extLst>
                    <a:ext uri="{9D8B030D-6E8A-4147-A177-3AD203B41FA5}">
                      <a16:colId xmlns:a16="http://schemas.microsoft.com/office/drawing/2014/main" val="1632693772"/>
                    </a:ext>
                  </a:extLst>
                </a:gridCol>
                <a:gridCol w="1363568">
                  <a:extLst>
                    <a:ext uri="{9D8B030D-6E8A-4147-A177-3AD203B41FA5}">
                      <a16:colId xmlns:a16="http://schemas.microsoft.com/office/drawing/2014/main" val="1994551633"/>
                    </a:ext>
                  </a:extLst>
                </a:gridCol>
                <a:gridCol w="1363568">
                  <a:extLst>
                    <a:ext uri="{9D8B030D-6E8A-4147-A177-3AD203B41FA5}">
                      <a16:colId xmlns:a16="http://schemas.microsoft.com/office/drawing/2014/main" val="2209572379"/>
                    </a:ext>
                  </a:extLst>
                </a:gridCol>
                <a:gridCol w="1363568">
                  <a:extLst>
                    <a:ext uri="{9D8B030D-6E8A-4147-A177-3AD203B41FA5}">
                      <a16:colId xmlns:a16="http://schemas.microsoft.com/office/drawing/2014/main" val="4211394037"/>
                    </a:ext>
                  </a:extLst>
                </a:gridCol>
              </a:tblGrid>
              <a:tr h="521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smtClean="0">
                          <a:effectLst/>
                        </a:rPr>
                        <a:t>Station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smtClean="0">
                          <a:effectLst/>
                        </a:rPr>
                        <a:t>Hours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smtClean="0">
                          <a:effectLst/>
                        </a:rPr>
                        <a:t>Minutes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smtClean="0">
                          <a:effectLst/>
                        </a:rPr>
                        <a:t>Second</a:t>
                      </a:r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326906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ST01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December 2016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11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5.742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64066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ST07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December 2016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11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6.466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01094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ST08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December 2016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11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6.751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02283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ST09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December 2016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11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7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8.695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85761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ST03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December 2016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11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7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10.01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88970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ST04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December 2016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11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effectLst/>
                        </a:rPr>
                        <a:t>7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10.215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9520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72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029" r="8359"/>
          <a:stretch/>
        </p:blipFill>
        <p:spPr>
          <a:xfrm>
            <a:off x="251520" y="1544955"/>
            <a:ext cx="8668511" cy="49202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751" y="436426"/>
            <a:ext cx="6475991" cy="574675"/>
          </a:xfrm>
        </p:spPr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541245" y="5229200"/>
            <a:ext cx="0" cy="28582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41245" y="5229200"/>
            <a:ext cx="997389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l-GR" sz="1050" dirty="0"/>
              <a:t>Δ</a:t>
            </a:r>
            <a:r>
              <a:rPr lang="en-US" sz="1050" dirty="0"/>
              <a:t>z = </a:t>
            </a:r>
            <a:r>
              <a:rPr lang="en-US" sz="1050" dirty="0" smtClean="0"/>
              <a:t>1.23 </a:t>
            </a:r>
            <a:r>
              <a:rPr lang="en-US" sz="1050" dirty="0"/>
              <a:t>Km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627784" y="4365104"/>
            <a:ext cx="216024" cy="12116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9221456">
            <a:off x="2160282" y="4159183"/>
            <a:ext cx="982961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l-GR" sz="1050" dirty="0" smtClean="0"/>
              <a:t>Δ</a:t>
            </a:r>
            <a:r>
              <a:rPr lang="en-US" sz="1050" dirty="0" smtClean="0"/>
              <a:t>d </a:t>
            </a:r>
            <a:r>
              <a:rPr lang="en-US" sz="1050" dirty="0"/>
              <a:t>= </a:t>
            </a:r>
            <a:r>
              <a:rPr lang="en-US" sz="1050" dirty="0" smtClean="0"/>
              <a:t>0.59 </a:t>
            </a:r>
            <a:r>
              <a:rPr lang="en-US" sz="1050" dirty="0"/>
              <a:t>km</a:t>
            </a:r>
          </a:p>
        </p:txBody>
      </p:sp>
      <p:sp>
        <p:nvSpPr>
          <p:cNvPr id="9" name="Freeform 8"/>
          <p:cNvSpPr/>
          <p:nvPr/>
        </p:nvSpPr>
        <p:spPr bwMode="auto">
          <a:xfrm>
            <a:off x="6298880" y="3514732"/>
            <a:ext cx="928420" cy="2197100"/>
          </a:xfrm>
          <a:custGeom>
            <a:avLst/>
            <a:gdLst>
              <a:gd name="connsiteX0" fmla="*/ 762008 w 774708"/>
              <a:gd name="connsiteY0" fmla="*/ 0 h 2171700"/>
              <a:gd name="connsiteX1" fmla="*/ 8 w 774708"/>
              <a:gd name="connsiteY1" fmla="*/ 1181100 h 2171700"/>
              <a:gd name="connsiteX2" fmla="*/ 774708 w 774708"/>
              <a:gd name="connsiteY2" fmla="*/ 2171700 h 2171700"/>
              <a:gd name="connsiteX0" fmla="*/ 763320 w 928420"/>
              <a:gd name="connsiteY0" fmla="*/ 0 h 2197100"/>
              <a:gd name="connsiteX1" fmla="*/ 1320 w 928420"/>
              <a:gd name="connsiteY1" fmla="*/ 1181100 h 2197100"/>
              <a:gd name="connsiteX2" fmla="*/ 928420 w 928420"/>
              <a:gd name="connsiteY2" fmla="*/ 2197100 h 219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8420" h="2197100">
                <a:moveTo>
                  <a:pt x="763320" y="0"/>
                </a:moveTo>
                <a:cubicBezTo>
                  <a:pt x="381261" y="409575"/>
                  <a:pt x="-26197" y="814917"/>
                  <a:pt x="1320" y="1181100"/>
                </a:cubicBezTo>
                <a:cubicBezTo>
                  <a:pt x="28837" y="1547283"/>
                  <a:pt x="542128" y="1882775"/>
                  <a:pt x="928420" y="2197100"/>
                </a:cubicBezTo>
              </a:path>
            </a:pathLst>
          </a:cu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13" name="Freeform 12"/>
          <p:cNvSpPr/>
          <p:nvPr/>
        </p:nvSpPr>
        <p:spPr bwMode="auto">
          <a:xfrm>
            <a:off x="6939058" y="5172270"/>
            <a:ext cx="355693" cy="489378"/>
          </a:xfrm>
          <a:custGeom>
            <a:avLst/>
            <a:gdLst>
              <a:gd name="connsiteX0" fmla="*/ 419252 w 419252"/>
              <a:gd name="connsiteY0" fmla="*/ 679858 h 679858"/>
              <a:gd name="connsiteX1" fmla="*/ 152 w 419252"/>
              <a:gd name="connsiteY1" fmla="*/ 82958 h 679858"/>
              <a:gd name="connsiteX2" fmla="*/ 381152 w 419252"/>
              <a:gd name="connsiteY2" fmla="*/ 19458 h 679858"/>
              <a:gd name="connsiteX0" fmla="*/ 419165 w 419165"/>
              <a:gd name="connsiteY0" fmla="*/ 616343 h 616343"/>
              <a:gd name="connsiteX1" fmla="*/ 65 w 419165"/>
              <a:gd name="connsiteY1" fmla="*/ 19443 h 616343"/>
              <a:gd name="connsiteX2" fmla="*/ 393765 w 419165"/>
              <a:gd name="connsiteY2" fmla="*/ 146443 h 616343"/>
              <a:gd name="connsiteX0" fmla="*/ 355693 w 355693"/>
              <a:gd name="connsiteY0" fmla="*/ 489378 h 489378"/>
              <a:gd name="connsiteX1" fmla="*/ 93 w 355693"/>
              <a:gd name="connsiteY1" fmla="*/ 57578 h 489378"/>
              <a:gd name="connsiteX2" fmla="*/ 330293 w 355693"/>
              <a:gd name="connsiteY2" fmla="*/ 19478 h 489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93" h="489378">
                <a:moveTo>
                  <a:pt x="355693" y="489378"/>
                </a:moveTo>
                <a:cubicBezTo>
                  <a:pt x="149318" y="245961"/>
                  <a:pt x="4326" y="135895"/>
                  <a:pt x="93" y="57578"/>
                </a:cubicBezTo>
                <a:cubicBezTo>
                  <a:pt x="-4140" y="-20739"/>
                  <a:pt x="136618" y="-3806"/>
                  <a:pt x="330293" y="19478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 rot="18621835">
            <a:off x="6058009" y="3738286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Iteration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 rot="18621835">
            <a:off x="6602643" y="4648397"/>
            <a:ext cx="1114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Iteration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62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 animBg="1"/>
      <p:bldP spid="13" grpId="0" animBg="1"/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25" y="260648"/>
            <a:ext cx="8865902" cy="63813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822" y="439755"/>
            <a:ext cx="7899400" cy="57467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Epicenter Location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887126" y="1778589"/>
            <a:ext cx="1314792" cy="571649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dirty="0"/>
              <a:t>Calculated Epicenter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4113" y="2471673"/>
            <a:ext cx="1314792" cy="571649"/>
          </a:xfrm>
          <a:prstGeom prst="roundRect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dirty="0"/>
              <a:t>Reported Epicenter</a:t>
            </a:r>
          </a:p>
        </p:txBody>
      </p:sp>
      <p:cxnSp>
        <p:nvCxnSpPr>
          <p:cNvPr id="8" name="Straight Arrow Connector 7"/>
          <p:cNvCxnSpPr>
            <a:stCxn id="5" idx="2"/>
          </p:cNvCxnSpPr>
          <p:nvPr/>
        </p:nvCxnSpPr>
        <p:spPr>
          <a:xfrm>
            <a:off x="4544522" y="2350238"/>
            <a:ext cx="0" cy="12576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2"/>
          </p:cNvCxnSpPr>
          <p:nvPr/>
        </p:nvCxnSpPr>
        <p:spPr>
          <a:xfrm flipH="1">
            <a:off x="4862772" y="3043322"/>
            <a:ext cx="428737" cy="571649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08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Geiger’s methods works in these following assumption:</a:t>
            </a:r>
          </a:p>
          <a:p>
            <a:pPr marL="793750" lvl="1" indent="-342900">
              <a:buAutoNum type="alphaLcPeriod"/>
            </a:pPr>
            <a:r>
              <a:rPr lang="en-US" dirty="0" smtClean="0"/>
              <a:t>Constant velocity</a:t>
            </a:r>
          </a:p>
          <a:p>
            <a:pPr marL="793750" lvl="1" indent="-342900">
              <a:buAutoNum type="alphaLcPeriod"/>
            </a:pPr>
            <a:r>
              <a:rPr lang="en-US" dirty="0" smtClean="0"/>
              <a:t>Straight ray-path from hypocenter to seismic station</a:t>
            </a:r>
          </a:p>
          <a:p>
            <a:r>
              <a:rPr lang="en-US" dirty="0" smtClean="0"/>
              <a:t>DLSQR gives more efficient solution with less iteration compared to LSQR</a:t>
            </a:r>
          </a:p>
          <a:p>
            <a:r>
              <a:rPr lang="en-US" dirty="0" smtClean="0"/>
              <a:t>Blind test shows DLSQR is feasible in over-determined case</a:t>
            </a:r>
          </a:p>
          <a:p>
            <a:r>
              <a:rPr lang="en-US" dirty="0" smtClean="0"/>
              <a:t>Additional weighted in depth column is needed for even-determined case</a:t>
            </a:r>
          </a:p>
          <a:p>
            <a:r>
              <a:rPr lang="en-US" dirty="0" smtClean="0"/>
              <a:t>Under-determined problem cannot be solved in our method. Need further investigation</a:t>
            </a:r>
          </a:p>
          <a:p>
            <a:r>
              <a:rPr lang="en-US" dirty="0" smtClean="0"/>
              <a:t>DLSQR is applicable to estimate the hypocenter location in real data</a:t>
            </a:r>
          </a:p>
          <a:p>
            <a:r>
              <a:rPr lang="en-US" dirty="0" smtClean="0"/>
              <a:t>An accurate velocity is needed to increase the accuracy and precision in hypocenter estimation</a:t>
            </a:r>
          </a:p>
          <a:p>
            <a:r>
              <a:rPr lang="en-US" dirty="0" smtClean="0"/>
              <a:t>Need further investigation for varying velocity model case</a:t>
            </a:r>
          </a:p>
          <a:p>
            <a:pPr marL="793750" lvl="1" indent="-342900">
              <a:buAutoNum type="alpha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69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2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U_Clausthal_Vorlage_ohneStone">
  <a:themeElements>
    <a:clrScheme name="TU_Clausthal_Vorlag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U_Clausthal_Vorlage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8"/>
          </a:defRPr>
        </a:defPPr>
      </a:lstStyle>
    </a:lnDef>
  </a:objectDefaults>
  <a:extraClrSchemeLst>
    <a:extraClrScheme>
      <a:clrScheme name="TU_Clausthal_Vorlag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U_Clausthal_Vorlag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U_Clausthal_Vorlag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U_Clausthal_Vorlag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U_Clausthal_Vorlag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U_Clausthal_Vorlag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U_Clausthal_Vorlag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5577</TotalTime>
  <Words>715</Words>
  <Application>Microsoft Office PowerPoint</Application>
  <PresentationFormat>On-screen Show (4:3)</PresentationFormat>
  <Paragraphs>260</Paragraphs>
  <Slides>19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 Unicode MS</vt:lpstr>
      <vt:lpstr>Arial</vt:lpstr>
      <vt:lpstr>Calibri</vt:lpstr>
      <vt:lpstr>Cambria Math</vt:lpstr>
      <vt:lpstr>Times New Roman</vt:lpstr>
      <vt:lpstr>Wingdings</vt:lpstr>
      <vt:lpstr>TU_Clausthal_Vorlage_ohneStone</vt:lpstr>
      <vt:lpstr>Equation</vt:lpstr>
      <vt:lpstr>Hypocenter Relocation Using  Geiger Method     By:        Abdullah Alali        Rami Albattat        Andika Perbawa   Instructor: Prof. Ibrahim Hoteit  ErSE 213  Inverse Problem      </vt:lpstr>
      <vt:lpstr>Outline</vt:lpstr>
      <vt:lpstr>The Problem </vt:lpstr>
      <vt:lpstr>The Physics Of the Problem </vt:lpstr>
      <vt:lpstr>The Physics Of the Problem </vt:lpstr>
      <vt:lpstr>The Physics Of the Problem </vt:lpstr>
      <vt:lpstr>Linearizing and Forming the system </vt:lpstr>
      <vt:lpstr>Algorithm  </vt:lpstr>
      <vt:lpstr> Forward Model (Synthetic)</vt:lpstr>
      <vt:lpstr>Results from forward Model</vt:lpstr>
      <vt:lpstr>Inverse Model</vt:lpstr>
      <vt:lpstr>Blind Test</vt:lpstr>
      <vt:lpstr>Application in Real Data</vt:lpstr>
      <vt:lpstr>PowerPoint Presentation</vt:lpstr>
      <vt:lpstr>Calculation</vt:lpstr>
      <vt:lpstr>Result</vt:lpstr>
      <vt:lpstr>Epicenter Location </vt:lpstr>
      <vt:lpstr>Conclusions</vt:lpstr>
      <vt:lpstr>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Petroleum Reservoir Quality  Rami Albattat ID: 435235   Institute of Petroleum Engineering TU Clausthal</dc:title>
  <dc:creator>Romeo</dc:creator>
  <cp:lastModifiedBy>andika perbawa</cp:lastModifiedBy>
  <cp:revision>367</cp:revision>
  <dcterms:created xsi:type="dcterms:W3CDTF">2014-06-09T17:28:02Z</dcterms:created>
  <dcterms:modified xsi:type="dcterms:W3CDTF">2017-05-16T05:57:16Z</dcterms:modified>
</cp:coreProperties>
</file>